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3B73"/>
              </a:gs>
              <a:gs pos="100000">
                <a:srgbClr val="142752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548640"/>
            <a:ext cx="2194560" cy="2194560"/>
          </a:xfrm>
          <a:prstGeom prst="ellipse">
            <a:avLst/>
          </a:prstGeom>
          <a:solidFill>
            <a:srgbClr val="5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120640"/>
            <a:ext cx="2743200" cy="2743200"/>
          </a:xfrm>
          <a:prstGeom prst="ellipse">
            <a:avLst/>
          </a:prstGeom>
          <a:solidFill>
            <a:srgbClr val="5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64592" cy="1554480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检索 BBC 新闻档案并给出证据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FE0EF"/>
                </a:solidFill>
                <a:latin typeface="Microsoft YaHei"/>
              </a:rPr>
              <a:t>Day 4 · 信息检索 · TF-IDF + 余弦相似度 + top-k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474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7E0"/>
                </a:solidFill>
                <a:latin typeface="Microsoft YaHei"/>
              </a:rPr>
              <a:t>使用者：新闻编辑研究助理（要证据、不接受无来源答案）</a:t>
            </a:r>
          </a:p>
          <a:p>
            <a:pPr algn="l"/>
            <a:r>
              <a:rPr sz="1500" b="0">
                <a:solidFill>
                  <a:srgbClr val="B8C7E0"/>
                </a:solidFill>
                <a:latin typeface="Microsoft YaHei"/>
              </a:rPr>
              <a:t>真实输入：2,225 篇 BBC 新闻 · 任务：先找回真实文章 → 有证据才回答，否则拒绝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4434840"/>
            <a:ext cx="9692640" cy="2103120"/>
          </a:xfrm>
          <a:prstGeom prst="roundRect">
            <a:avLst>
              <a:gd name="adj" fmla="val 6000"/>
            </a:avLst>
          </a:prstGeom>
          <a:solidFill>
            <a:srgbClr val="182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526280"/>
            <a:ext cx="9235440" cy="2052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任务总览 · 七件必须说清的事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信息检索/排序——不是分类、不是回归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1109960" cy="566928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输入问题 → 检索真实文章 → 有证据才回答，否则拒绝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82296" cy="530352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14016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使用者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98064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新闻编辑研究助理：要快速定位档案证据，不接受无来源答案。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9504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89504"/>
            <a:ext cx="82296" cy="530352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17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真实输入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01568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Kaggle bbc-articles-cleaned 的 tfidf_dataset.csv，2,225 篇（2004–2005）。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93008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493008"/>
            <a:ext cx="82296" cy="530352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21024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需要输出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05072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top-k 文章 + 稳定编号 article-0000…article-2224；证据不足则明确拒绝。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96512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096512"/>
            <a:ext cx="82296" cy="530352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224528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最简单基线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608576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返回空结果 / 直接关键词包含匹配，记录它在哪些问题上失败。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0016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700016"/>
            <a:ext cx="82296" cy="530352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828032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候选方法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212080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TF-IDF 向量 + 余弦相似度 + top-k；可选 DeepSeek 生成带引用回答。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303520"/>
            <a:ext cx="82296" cy="53035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431536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最危险错误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815584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把文章文字当指令（提示注入）；没证据也回答；引用与结论对不上；泄露密钥。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07024"/>
            <a:ext cx="111099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5907024"/>
            <a:ext cx="82296" cy="530352"/>
          </a:xfrm>
          <a:prstGeom prst="roundRect">
            <a:avLst>
              <a:gd name="adj" fmla="val 5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03504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F3B73"/>
                </a:solidFill>
                <a:latin typeface="Microsoft YaHei"/>
              </a:rPr>
              <a:t>不能声称什么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19088"/>
            <a:ext cx="10725912" cy="-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数据只当资料不当指令；证据不足必须拒绝；模型回答不能替代来源核对。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Q1+Q2 · 最简单基线 → 候选是否更有用？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控制变量：同一档案、同一问题、同一 top-k=4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1109960" cy="603504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答案：基线=关键词包含；候选=TF-IDF+余弦，3 个真实问题全部命中（recall@4=3/3）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33172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914400"/>
                <a:gridCol w="54864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评估问题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命中文章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musician_visas 音乐家签证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article-0000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第 1 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psp_launch 索尼 PSP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article-1837 + 1946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第 2、4 名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phone_virus 手机病毒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article-2224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第 2 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retrieval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5029200" cy="29116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4434840"/>
            <a:ext cx="5852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562856"/>
            <a:ext cx="54681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基线为什么失败、候选为什么成功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46904"/>
            <a:ext cx="54681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基线：问题里每个词都要原样出现。评估问题用「visa rules」，但目标文章 article-0000 原文是「visa regulations」「red tape」，不含 rules → 漏掉。</a:t>
            </a:r>
          </a:p>
          <a:p>
            <a:pPr algn="l"/>
          </a:p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候选：TF-IDF 把 rules≈regulations 的语义通过词加权相似度兜住，article-0000 排到第 1。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43484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434840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4562856"/>
            <a:ext cx="46908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诚实瑕疵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4946904"/>
            <a:ext cx="46908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phone_virus 只命中 article-2224；没进前 4 的 article-1860 与其近乎逐字重复（一个写 phone bugs、一个写 phone viruses），命中其一已足够，不构成真漏检。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Q3+Q4 · 最影响使用者的错误 → 真实失败案例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把不相关的文章排到最前 / 硬答无据问题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1109960" cy="603504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答案：问「火星天气 Mars weather」→ top-1 是 Mick Mars（吉他手）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82296" cy="182880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9736"/>
            <a:ext cx="5102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最影响使用者的错误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4"/>
            <a:ext cx="51023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编辑助理要的是「能追溯来源的正确材料」。</a:t>
            </a:r>
          </a:p>
          <a:p>
            <a:pPr algn="l"/>
          </a:p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排错一篇 = 让助理拿着无关文章写报道；硬答无据问题 = 编造来源。二者都比「漏掉几篇相关文章」更危险。</a:t>
            </a:r>
          </a:p>
        </p:txBody>
      </p:sp>
      <p:pic>
        <p:nvPicPr>
          <p:cNvPr id="14" name="Picture 13" descr="mar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86000"/>
            <a:ext cx="5394960" cy="284806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43434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71416"/>
            <a:ext cx="5102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告诉了我们什么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55464"/>
            <a:ext cx="51023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TF-IDF 只做词频统计、不理解词义，无法区分「火星 Mars」与「Mick Mars」这个同名实体；score 0.231 不低（&gt;0.08），但答案完全无关——分数高 ≠ 答案对。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343400"/>
            <a:ext cx="53949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4343400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4471416"/>
            <a:ext cx="5010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不能证明什么 + 下一项检查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855464"/>
            <a:ext cx="50109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一个坏例子不能说明 TF-IDF 整体无用（它在 3 个评估问题都正确命中）。</a:t>
            </a:r>
          </a:p>
          <a:p>
            <a:pPr algn="l"/>
          </a:p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下一项：给 top 结果加「同实体消歧」或让回答模型先判断「是否真在回答问题」，证据不足就拒绝。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Q5 · 证据支持的最小结论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只说自己拿得出证据的话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11109960" cy="603504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98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答案：候选有效但仍有限；分数高≠答案对，最终必须人工核对原文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96896"/>
            <a:ext cx="5102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证据支持的（可写）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80944"/>
            <a:ext cx="51023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同一条件下候选命中 3/3 真实问题，且能处理 rules≈regulations 这类同义改写。</a:t>
            </a:r>
          </a:p>
          <a:p>
            <a:pPr algn="l"/>
          </a:p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它是「候选资料召回」工具，能给出可追溯的 article 编号。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6888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46888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596896"/>
            <a:ext cx="5010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证据不支持的（不能写）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980944"/>
            <a:ext cx="501091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不能说它「理解语义」——Mars 错配成 Mick Mars；不能说它「能判断答案对错」——问 2020 大选会返回 2005 英国大选文章，分数 0.119 仍高于拒绝阈值 0.08。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11109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157216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一句话最小结论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41264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候选是有用的档案召回工具，但不是语义理解系统；分数只代表词语相似，最终答案必须人工核对原文，证据不足就拒绝。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真实数据 · 2,225 篇 BBC 新闻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数据检查：REAL DATA CHECK PASSED</a:t>
            </a:r>
          </a:p>
        </p:txBody>
      </p:sp>
      <p:pic>
        <p:nvPicPr>
          <p:cNvPr id="8" name="Picture 7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760720" cy="33516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2286000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文章数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business 商业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entertainment 娱乐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386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politics 政治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sport 体育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511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22833"/>
                          </a:solidFill>
                        </a:defRPr>
                      </a:pPr>
                      <a:r>
                        <a:t>tech 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5A6472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39496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82296" cy="82296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522976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数据契约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07024"/>
            <a:ext cx="10725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来源 Kaggle dimasmunoz/bbc-articles-cleaned；2,225 行，列 text + category；正文是停用词过滤后的文本；档案只覆盖 2004–2005，超出年代的问题无据可依。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核心概念 · TF-IDF：文字怎么变数字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在某篇文章里重要、在所有文章里不常见的词，权重更高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1109960" cy="566928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TF=词频（出现越多越重要）· IDF=逆文档频率（越常见越压低）</a:t>
            </a:r>
          </a:p>
        </p:txBody>
      </p:sp>
      <p:pic>
        <p:nvPicPr>
          <p:cNvPr id="10" name="Picture 9" descr="tfidf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669280" cy="32755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0" y="21945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82296" cy="182880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22576"/>
            <a:ext cx="4873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TF（词频）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706624"/>
            <a:ext cx="48737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一个词在这篇文章里出现次数越多，越能代表这篇文章。讲「手机病毒」的文章里 virus / phone 会反复出现。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288536"/>
            <a:ext cx="4873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IDF（逆文档频率）+ 它没做什么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72584"/>
            <a:ext cx="487375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几乎每篇都出现的词（the / a / news）不算特征，权重被压低；稀有词（virus / bluetooth）权重被抬高。</a:t>
            </a:r>
          </a:p>
          <a:p>
            <a:pPr algn="l"/>
          </a:p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但 TF-IDF 只统计词分布，不「理解事实」——所以会把「火星」和「Mick Mars」当成一回事。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核心概念 · 余弦相似度 + top-k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比较「方向」是否接近：越接近 1 越相似，0 表示无关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36192"/>
            <a:ext cx="11109960" cy="566928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只关心方向、不关心长度 → 长文和短文也能公平比较</a:t>
            </a:r>
          </a:p>
        </p:txBody>
      </p:sp>
      <p:pic>
        <p:nvPicPr>
          <p:cNvPr id="10" name="Picture 9" descr="cosin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669280" cy="49277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0" y="219456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82296" cy="182880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22576"/>
            <a:ext cx="4873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余弦相似度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706624"/>
            <a:ext cx="48737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问题向量与每篇文章向量做点积后归一化，得到 0~1 的分数，等价于看两个向量的夹角有多小。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288536"/>
            <a:ext cx="4873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top-k 检索 + 关键提醒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672584"/>
            <a:ext cx="487375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按分数降序取前 k 篇；k 太小漏证据、太大加噪声，本课程固定 k=4。</a:t>
            </a:r>
          </a:p>
          <a:p>
            <a:pPr algn="l"/>
          </a:p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分数高只代表「词语模式相似」，不代表「结论正确」——phone_virus 里 article-2121（丢手机）也排进前 4。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核心代码 + 有依据回答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ArchiveIndex.search（retriever.py）+ 引用校验 + 拒绝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760720" cy="310896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394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def search(self, question, top_k=4):</a:t>
            </a:r>
          </a:p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    q = self.vectorizer.transform([question])   # 1 问题向量化</a:t>
            </a:r>
          </a:p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    s = cosine_similarity(q, self.matrix)[0]    # 2 余弦相似度</a:t>
            </a:r>
          </a:p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    order = s.argsort()[::-1]                   # 3 降序排序</a:t>
            </a:r>
          </a:p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    return [(self.articles[i], float(s[i]))     # 4 取 top-k</a:t>
            </a:r>
          </a:p>
          <a:p>
            <a:pPr algn="l"/>
            <a:r>
              <a:rPr sz="1300" b="0">
                <a:solidFill>
                  <a:srgbClr val="E6EDF7"/>
                </a:solidFill>
                <a:latin typeface="Consolas"/>
              </a:rPr>
              <a:t>            for i in order[:top_k]]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94560"/>
            <a:ext cx="51663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194560"/>
            <a:ext cx="82296" cy="155448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2322576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引用校验 validate_citations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706624"/>
            <a:ext cx="47823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833"/>
                </a:solidFill>
                <a:latin typeface="Microsoft YaHei"/>
              </a:rPr>
              <a:t>回答里每个事实句必须带 [article-xxxx]；程序用正则抽取编号，检查①至少一个引用②引用都来自已检索文章，否则报错。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886200"/>
            <a:ext cx="5166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3886200"/>
            <a:ext cx="82296" cy="1417320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4014216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拒绝逻辑 + DeepSeek 可选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4398264"/>
            <a:ext cx="47823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833"/>
                </a:solidFill>
                <a:latin typeface="Microsoft YaHei"/>
              </a:rPr>
              <a:t>检索为空或 top-1 分数 &lt; 0.08 → 打印「证据不足」并停止。</a:t>
            </a:r>
          </a:p>
          <a:p>
            <a:pPr algn="l"/>
          </a:p>
          <a:p>
            <a:pPr algn="l"/>
            <a:r>
              <a:rPr sz="1100" b="0">
                <a:solidFill>
                  <a:srgbClr val="222833"/>
                </a:solidFill>
                <a:latin typeface="Microsoft YaHei"/>
              </a:rPr>
              <a:t>DeepSeek 只读检索结果、只带引用回答；key 只在环境变量，不进文件/仓库（本机未跑）。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66928"/>
            <a:ext cx="146304" cy="786384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3B73"/>
                </a:solidFill>
                <a:latin typeface="Microsoft YaHei"/>
              </a:rPr>
              <a:t>风险 · 边界 · 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298448"/>
            <a:ext cx="2194560" cy="41148"/>
          </a:xfrm>
          <a:prstGeom prst="rect">
            <a:avLst/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2"/>
                </a:solidFill>
                <a:latin typeface="Microsoft YaHei"/>
              </a:rPr>
              <a:t>数据不是指令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76072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82296" cy="768096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22576"/>
            <a:ext cx="5376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① 提示注入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06624"/>
            <a:ext cx="537667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文章里「像命令的文字」仍是资料，不能改系统规则、触发工具或读密钥。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39"/>
            <a:ext cx="576072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063239"/>
            <a:ext cx="82296" cy="768096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91255"/>
            <a:ext cx="5376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② 没证据也回答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75303"/>
            <a:ext cx="537667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检索为空或分数过低时必须拒绝，不能凭记忆或常识补写答案。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76072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82296" cy="7680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5376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③ 引用与结论不一致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443984"/>
            <a:ext cx="537667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回答里的每个事实都要能指向已检索的 article 编号，否则报错。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576072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82296" cy="768096"/>
          </a:xfrm>
          <a:prstGeom prst="roundRect">
            <a:avLst>
              <a:gd name="adj" fmla="val 50000"/>
            </a:avLst>
          </a:prstGeom>
          <a:solidFill>
            <a:srgbClr val="1F3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928616"/>
            <a:ext cx="5376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④ 泄露密钥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12664"/>
            <a:ext cx="537667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DeepSeek key 只在环境变量，不进文件、不进仓库、不发给智能体。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19456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2194560"/>
            <a:ext cx="82296" cy="1737360"/>
          </a:xfrm>
          <a:prstGeom prst="roundRect">
            <a:avLst>
              <a:gd name="adj" fmla="val 50000"/>
            </a:avLst>
          </a:prstGeom>
          <a:solidFill>
            <a:srgbClr val="2B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2322576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做到了什么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2706624"/>
            <a:ext cx="47823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2,225 篇校验通过；3 个固定问题 recall@4=3/3；返回可追溯 article 编号；有拒绝路径（min-score + 引用校验）。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06908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069080"/>
            <a:ext cx="82296" cy="19659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197096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B73"/>
                </a:solidFill>
                <a:latin typeface="Microsoft YaHei"/>
              </a:rPr>
              <a:t>做不到什么 + 下一步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581144"/>
            <a:ext cx="478231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不理解语义：Mars→Mick Mars 错配、2020 大选→2005 英国大选错配；档案只覆盖 2004–2005。</a:t>
            </a:r>
          </a:p>
          <a:p>
            <a:pPr algn="l"/>
          </a:p>
          <a:p>
            <a:pPr algn="l"/>
            <a:r>
              <a:rPr sz="1150" b="0">
                <a:solidFill>
                  <a:srgbClr val="222833"/>
                </a:solidFill>
                <a:latin typeface="Microsoft YaHei"/>
              </a:rPr>
              <a:t>下一步：给 top 结果加实体消歧或「是否真在回答问题」的二次判断。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60720"/>
            <a:ext cx="11109960" cy="640080"/>
          </a:xfrm>
          <a:prstGeom prst="roundRect">
            <a:avLst>
              <a:gd name="adj" fmla="val 4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icrosoft YaHei"/>
              </a:rPr>
              <a:t>边界：数据只当资料不当指令 · 证据不足必须拒绝 · 模型回答不能替代来源核对。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